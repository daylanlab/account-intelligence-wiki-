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64240" cy="777240"/>
          </a:xfrm>
          <a:prstGeom prst="rect">
            <a:avLst/>
          </a:prstGeom>
          <a:noFill/>
          <a:ln/>
        </p:spPr>
        <p:txBody>
          <a:bodyPr wrap="square" lIns="0" tIns="0" rIns="0" bIns="0" rtlCol="0" anchor="ctr"/>
          <a:lstStyle/>
          <a:p>
            <a:pPr indent="0" marL="0">
              <a:buNone/>
            </a:pPr>
            <a:r>
              <a:rPr lang="en-US" sz="3800" b="1" spc="-100" kern="0" dirty="0">
                <a:solidFill>
                  <a:srgbClr val="091426"/>
                </a:solidFill>
                <a:latin typeface="Georgia" pitchFamily="34" charset="0"/>
                <a:ea typeface="Georgia" pitchFamily="34" charset="-122"/>
                <a:cs typeface="Georgia" pitchFamily="34" charset="-120"/>
              </a:rPr>
              <a:t>CVS Account Intelligence</a:t>
            </a:r>
            <a:endParaRPr lang="en-US" sz="3800" dirty="0"/>
          </a:p>
        </p:txBody>
      </p:sp>
      <p:sp>
        <p:nvSpPr>
          <p:cNvPr id="3" name="Text 1"/>
          <p:cNvSpPr/>
          <p:nvPr/>
        </p:nvSpPr>
        <p:spPr>
          <a:xfrm>
            <a:off x="548640" y="1280160"/>
            <a:ext cx="11064240" cy="365760"/>
          </a:xfrm>
          <a:prstGeom prst="rect">
            <a:avLst/>
          </a:prstGeom>
          <a:noFill/>
          <a:ln/>
        </p:spPr>
        <p:txBody>
          <a:bodyPr wrap="square" lIns="0" tIns="0" rIns="0" bIns="0" rtlCol="0" anchor="ctr"/>
          <a:lstStyle/>
          <a:p>
            <a:pPr indent="0" marL="0">
              <a:buNone/>
            </a:pPr>
            <a:r>
              <a:rPr lang="en-US" sz="1700" i="1" dirty="0">
                <a:solidFill>
                  <a:srgbClr val="515F74"/>
                </a:solidFill>
                <a:latin typeface="Georgia" pitchFamily="34" charset="0"/>
                <a:ea typeface="Georgia" pitchFamily="34" charset="-122"/>
                <a:cs typeface="Georgia" pitchFamily="34" charset="-120"/>
              </a:rPr>
              <a:t>A persistent intelligence wiki for the PwC – CVS account team</a:t>
            </a:r>
            <a:endParaRPr lang="en-US" sz="1700" dirty="0"/>
          </a:p>
        </p:txBody>
      </p:sp>
      <p:sp>
        <p:nvSpPr>
          <p:cNvPr id="4" name="Text 2"/>
          <p:cNvSpPr/>
          <p:nvPr/>
        </p:nvSpPr>
        <p:spPr>
          <a:xfrm>
            <a:off x="548640" y="1783080"/>
            <a:ext cx="11064240" cy="777240"/>
          </a:xfrm>
          <a:prstGeom prst="rect">
            <a:avLst/>
          </a:prstGeom>
          <a:noFill/>
          <a:ln/>
        </p:spPr>
        <p:txBody>
          <a:bodyPr wrap="square" lIns="0" tIns="0" rIns="0" bIns="0" rtlCol="0" anchor="t"/>
          <a:lstStyle/>
          <a:p>
            <a:pPr indent="0" marL="0">
              <a:buNone/>
            </a:pPr>
            <a:r>
              <a:rPr lang="en-US" sz="1300" dirty="0">
                <a:solidFill>
                  <a:srgbClr val="1B1B1D"/>
                </a:solidFill>
                <a:latin typeface="Calibri" pitchFamily="34" charset="0"/>
                <a:ea typeface="Calibri" pitchFamily="34" charset="-122"/>
                <a:cs typeface="Calibri" pitchFamily="34" charset="-120"/>
              </a:rPr>
              <a:t>A source-cited knowledge base maintained by an LLM editor that reads the same material the account team reads (SharePoint folders, Outlook recaps, Teams notes, Salesforce, SEC EDGAR, news, earnings) and synthesizes it into nine purpose-built surfaces. The wiki is the database; the surfaces are different views on it.</a:t>
            </a:r>
            <a:endParaRPr lang="en-US" sz="13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48640" y="2788920"/>
          <a:ext cx="11064240" cy="914400"/>
        </p:xfrm>
        <a:graphic>
          <a:graphicData uri="http://schemas.openxmlformats.org/drawingml/2006/table">
            <a:tbl>
              <a:tblPr/>
              <a:tblGrid>
                <a:gridCol w="1463040"/>
                <a:gridCol w="4572000"/>
                <a:gridCol w="5029200"/>
              </a:tblGrid>
              <a:tr h="292608">
                <a:tc>
                  <a:txBody>
                    <a:bodyPr/>
                    <a:lstStyle/>
                    <a:p>
                      <a:pPr algn="l" indent="0" marL="0">
                        <a:buNone/>
                      </a:pPr>
                      <a:r>
                        <a:rPr lang="en-US" sz="950" b="1" spc="200" kern="0" dirty="0">
                          <a:solidFill>
                            <a:srgbClr val="515F74"/>
                          </a:solidFill>
                          <a:latin typeface="Calibri" pitchFamily="34" charset="0"/>
                          <a:ea typeface="Calibri" pitchFamily="34" charset="-122"/>
                          <a:cs typeface="Calibri" pitchFamily="34" charset="-120"/>
                        </a:rPr>
                        <a:t>LAYER</a:t>
                      </a:r>
                      <a:endParaRPr lang="en-US" sz="950" dirty="0">
                        <a:latin typeface="Calibri" charset="0"/>
                        <a:ea typeface="Calibri" charset="0"/>
                        <a:cs typeface="Calibri" charset="0"/>
                      </a:endParaRPr>
                    </a:p>
                  </a:txBody>
                  <a:tcPr marL="101600" marR="101600" marT="50800" marB="76200" anchor="ctr">
                    <a:lnL w="0" cap="flat" cmpd="sng" algn="ctr">
                      <a:noFill/>
                    </a:lnL>
                    <a:lnR w="0" cap="flat" cmpd="sng" algn="ctr">
                      <a:noFill/>
                    </a:lnR>
                    <a:lnT w="0" cap="flat" cmpd="sng" algn="ctr">
                      <a:noFill/>
                    </a:lnT>
                    <a:lnB w="19050" cap="flat" cmpd="sng" algn="ctr">
                      <a:solidFill>
                        <a:srgbClr val="091426"/>
                      </a:solidFill>
                      <a:prstDash val="solid"/>
                      <a:round/>
                      <a:headEnd type="none" w="med" len="med"/>
                      <a:tailEnd type="none" w="med" len="med"/>
                    </a:lnB>
                  </a:tcPr>
                </a:tc>
                <a:tc>
                  <a:txBody>
                    <a:bodyPr/>
                    <a:lstStyle/>
                    <a:p>
                      <a:pPr algn="l" indent="0" marL="0">
                        <a:buNone/>
                      </a:pPr>
                      <a:r>
                        <a:rPr lang="en-US" sz="950" b="1" spc="200" kern="0" dirty="0">
                          <a:solidFill>
                            <a:srgbClr val="515F74"/>
                          </a:solidFill>
                          <a:latin typeface="Calibri" pitchFamily="34" charset="0"/>
                          <a:ea typeface="Calibri" pitchFamily="34" charset="-122"/>
                          <a:cs typeface="Calibri" pitchFamily="34" charset="-120"/>
                        </a:rPr>
                        <a:t>WHAT IT DOES</a:t>
                      </a:r>
                      <a:endParaRPr lang="en-US" sz="950" dirty="0">
                        <a:latin typeface="Calibri" charset="0"/>
                        <a:ea typeface="Calibri" charset="0"/>
                        <a:cs typeface="Calibri" charset="0"/>
                      </a:endParaRPr>
                    </a:p>
                  </a:txBody>
                  <a:tcPr marL="101600" marR="101600" marT="50800" marB="76200" anchor="ctr">
                    <a:lnL w="0" cap="flat" cmpd="sng" algn="ctr">
                      <a:noFill/>
                    </a:lnL>
                    <a:lnR w="0" cap="flat" cmpd="sng" algn="ctr">
                      <a:noFill/>
                    </a:lnR>
                    <a:lnT w="0" cap="flat" cmpd="sng" algn="ctr">
                      <a:noFill/>
                    </a:lnT>
                    <a:lnB w="19050" cap="flat" cmpd="sng" algn="ctr">
                      <a:solidFill>
                        <a:srgbClr val="091426"/>
                      </a:solidFill>
                      <a:prstDash val="solid"/>
                      <a:round/>
                      <a:headEnd type="none" w="med" len="med"/>
                      <a:tailEnd type="none" w="med" len="med"/>
                    </a:lnB>
                  </a:tcPr>
                </a:tc>
                <a:tc>
                  <a:txBody>
                    <a:bodyPr/>
                    <a:lstStyle/>
                    <a:p>
                      <a:pPr algn="l" indent="0" marL="0">
                        <a:buNone/>
                      </a:pPr>
                      <a:r>
                        <a:rPr lang="en-US" sz="950" b="1" spc="200" kern="0" dirty="0">
                          <a:solidFill>
                            <a:srgbClr val="515F74"/>
                          </a:solidFill>
                          <a:latin typeface="Calibri" pitchFamily="34" charset="0"/>
                          <a:ea typeface="Calibri" pitchFamily="34" charset="-122"/>
                          <a:cs typeface="Calibri" pitchFamily="34" charset="-120"/>
                        </a:rPr>
                        <a:t>COMPONENTS</a:t>
                      </a:r>
                      <a:endParaRPr lang="en-US" sz="950" dirty="0">
                        <a:latin typeface="Calibri" charset="0"/>
                        <a:ea typeface="Calibri" charset="0"/>
                        <a:cs typeface="Calibri" charset="0"/>
                      </a:endParaRPr>
                    </a:p>
                  </a:txBody>
                  <a:tcPr marL="101600" marR="101600" marT="50800" marB="76200" anchor="ctr">
                    <a:lnL w="0" cap="flat" cmpd="sng" algn="ctr">
                      <a:noFill/>
                    </a:lnL>
                    <a:lnR w="0" cap="flat" cmpd="sng" algn="ctr">
                      <a:noFill/>
                    </a:lnR>
                    <a:lnT w="0" cap="flat" cmpd="sng" algn="ctr">
                      <a:noFill/>
                    </a:lnT>
                    <a:lnB w="19050" cap="flat" cmpd="sng" algn="ctr">
                      <a:solidFill>
                        <a:srgbClr val="091426"/>
                      </a:solidFill>
                      <a:prstDash val="solid"/>
                      <a:round/>
                      <a:headEnd type="none" w="med" len="med"/>
                      <a:tailEnd type="none" w="med" len="med"/>
                    </a:lnB>
                  </a:tcPr>
                </a:tc>
              </a:tr>
              <a:tr h="777240">
                <a:tc>
                  <a:txBody>
                    <a:bodyPr/>
                    <a:lstStyle/>
                    <a:p>
                      <a:pPr algn="l" indent="0" marL="0">
                        <a:buNone/>
                      </a:pPr>
                      <a:r>
                        <a:rPr lang="en-US" sz="1200" b="1" dirty="0">
                          <a:solidFill>
                            <a:srgbClr val="091426"/>
                          </a:solidFill>
                          <a:latin typeface="Georgia" pitchFamily="34" charset="0"/>
                          <a:ea typeface="Georgia" pitchFamily="34" charset="-122"/>
                          <a:cs typeface="Georgia" pitchFamily="34" charset="-120"/>
                        </a:rPr>
                        <a:t>Inputs</a:t>
                      </a:r>
                      <a:endParaRPr lang="en-US" sz="1200" dirty="0">
                        <a:latin typeface="Georgia" charset="0"/>
                        <a:ea typeface="Georgia" charset="0"/>
                        <a:cs typeface="Georgia"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100" dirty="0">
                          <a:solidFill>
                            <a:srgbClr val="1B1B1D"/>
                          </a:solidFill>
                          <a:latin typeface="Calibri" pitchFamily="34" charset="0"/>
                          <a:ea typeface="Calibri" pitchFamily="34" charset="-122"/>
                          <a:cs typeface="Calibri" pitchFamily="34" charset="-120"/>
                        </a:rPr>
                        <a:t>Internal and external sources, polled on a schedule or pushed by Power Automate flows.</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100" dirty="0">
                          <a:solidFill>
                            <a:srgbClr val="45474C"/>
                          </a:solidFill>
                          <a:latin typeface="Calibri" pitchFamily="34" charset="0"/>
                          <a:ea typeface="Calibri" pitchFamily="34" charset="-122"/>
                          <a:cs typeface="Calibri" pitchFamily="34" charset="-120"/>
                        </a:rPr>
                        <a:t>SharePoint folders, Outlook and Teams meeting recaps, Salesforce pipeline and contacts, SEC EDGAR, Capital IQ and Bloomberg (PwC licenses), public news</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r>
              <a:tr h="868680">
                <a:tc>
                  <a:txBody>
                    <a:bodyPr/>
                    <a:lstStyle/>
                    <a:p>
                      <a:pPr algn="l" indent="0" marL="0">
                        <a:buNone/>
                      </a:pPr>
                      <a:r>
                        <a:rPr lang="en-US" sz="1200" b="1" dirty="0">
                          <a:solidFill>
                            <a:srgbClr val="091426"/>
                          </a:solidFill>
                          <a:latin typeface="Georgia" pitchFamily="34" charset="0"/>
                          <a:ea typeface="Georgia" pitchFamily="34" charset="-122"/>
                          <a:cs typeface="Georgia" pitchFamily="34" charset="-120"/>
                        </a:rPr>
                        <a:t>Editor</a:t>
                      </a:r>
                      <a:endParaRPr lang="en-US" sz="1200" dirty="0">
                        <a:latin typeface="Georgia" charset="0"/>
                        <a:ea typeface="Georgia" charset="0"/>
                        <a:cs typeface="Georgia"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100" dirty="0">
                          <a:solidFill>
                            <a:srgbClr val="1B1B1D"/>
                          </a:solidFill>
                          <a:latin typeface="Calibri" pitchFamily="34" charset="0"/>
                          <a:ea typeface="Calibri" pitchFamily="34" charset="-122"/>
                          <a:cs typeface="Calibri" pitchFamily="34" charset="-120"/>
                        </a:rPr>
                        <a:t>Reads new sources, cross-references the existing wiki, rewrites affected pages, flags contradictions, logs every change. Human approves each pass before commit.</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100" dirty="0">
                          <a:solidFill>
                            <a:srgbClr val="45474C"/>
                          </a:solidFill>
                          <a:latin typeface="Calibri" pitchFamily="34" charset="0"/>
                          <a:ea typeface="Calibri" pitchFamily="34" charset="-122"/>
                          <a:cs typeface="Calibri" pitchFamily="34" charset="-120"/>
                        </a:rPr>
                        <a:t>Azure OpenAI inside the PwC tenant; agent logic governed by AGENTS.md; full version history in the Azure DevOps repository</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r>
              <a:tr h="777240">
                <a:tc>
                  <a:txBody>
                    <a:bodyPr/>
                    <a:lstStyle/>
                    <a:p>
                      <a:pPr algn="l" indent="0" marL="0">
                        <a:buNone/>
                      </a:pPr>
                      <a:r>
                        <a:rPr lang="en-US" sz="1200" b="1" dirty="0">
                          <a:solidFill>
                            <a:srgbClr val="091426"/>
                          </a:solidFill>
                          <a:latin typeface="Georgia" pitchFamily="34" charset="0"/>
                          <a:ea typeface="Georgia" pitchFamily="34" charset="-122"/>
                          <a:cs typeface="Georgia" pitchFamily="34" charset="-120"/>
                        </a:rPr>
                        <a:t>Surfaces</a:t>
                      </a:r>
                      <a:endParaRPr lang="en-US" sz="1200" dirty="0">
                        <a:latin typeface="Georgia" charset="0"/>
                        <a:ea typeface="Georgia" charset="0"/>
                        <a:cs typeface="Georgia"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100" dirty="0">
                          <a:solidFill>
                            <a:srgbClr val="1B1B1D"/>
                          </a:solidFill>
                          <a:latin typeface="Calibri" pitchFamily="34" charset="0"/>
                          <a:ea typeface="Calibri" pitchFamily="34" charset="-122"/>
                          <a:cs typeface="Calibri" pitchFamily="34" charset="-120"/>
                        </a:rPr>
                        <a:t>Nine purpose-built views on the same wiki, each answering a specific account-team question. See slide 2.</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100" dirty="0">
                          <a:solidFill>
                            <a:srgbClr val="45474C"/>
                          </a:solidFill>
                          <a:latin typeface="Calibri" pitchFamily="34" charset="0"/>
                          <a:ea typeface="Calibri" pitchFamily="34" charset="-122"/>
                          <a:cs typeface="Calibri" pitchFamily="34" charset="-120"/>
                        </a:rPr>
                        <a:t>React renderer hosted on Azure Static Web Apps; Entra ID for partner-only access; SVG org chart derived from contact frontmatter</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r>
              <a:tr h="685800">
                <a:tc>
                  <a:txBody>
                    <a:bodyPr/>
                    <a:lstStyle/>
                    <a:p>
                      <a:pPr algn="l" indent="0" marL="0">
                        <a:buNone/>
                      </a:pPr>
                      <a:r>
                        <a:rPr lang="en-US" sz="1200" b="1" dirty="0">
                          <a:solidFill>
                            <a:srgbClr val="091426"/>
                          </a:solidFill>
                          <a:latin typeface="Georgia" pitchFamily="34" charset="0"/>
                          <a:ea typeface="Georgia" pitchFamily="34" charset="-122"/>
                          <a:cs typeface="Georgia" pitchFamily="34" charset="-120"/>
                        </a:rPr>
                        <a:t>Status</a:t>
                      </a:r>
                      <a:endParaRPr lang="en-US" sz="1200" dirty="0">
                        <a:latin typeface="Georgia" charset="0"/>
                        <a:ea typeface="Georgia" charset="0"/>
                        <a:cs typeface="Georgia"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100" b="1" dirty="0">
                          <a:solidFill>
                            <a:srgbClr val="1B1B1D"/>
                          </a:solidFill>
                          <a:latin typeface="Calibri" pitchFamily="34" charset="0"/>
                          <a:ea typeface="Calibri" pitchFamily="34" charset="-122"/>
                          <a:cs typeface="Calibri" pitchFamily="34" charset="-120"/>
                        </a:rPr>
                        <a:t>Sprint 1 shipped: Home command center, Concierge chat, and the Editorial Briefing are live. Schema codified in AGENTS.md.</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100" i="1" dirty="0">
                          <a:solidFill>
                            <a:srgbClr val="515F74"/>
                          </a:solidFill>
                          <a:latin typeface="Calibri" pitchFamily="34" charset="0"/>
                          <a:ea typeface="Calibri" pitchFamily="34" charset="-122"/>
                          <a:cs typeface="Calibri" pitchFamily="34" charset="-120"/>
                        </a:rPr>
                        <a:t>Repository: github.com/DaylanLab/Account-Intelligence-Wiki-</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r>
            </a:tbl>
          </a:graphicData>
        </a:graphic>
      </p:graphicFrame>
      <p:sp>
        <p:nvSpPr>
          <p:cNvPr id="6" name="Text 3"/>
          <p:cNvSpPr/>
          <p:nvPr/>
        </p:nvSpPr>
        <p:spPr>
          <a:xfrm>
            <a:off x="548640" y="6537960"/>
            <a:ext cx="10332720" cy="228600"/>
          </a:xfrm>
          <a:prstGeom prst="rect">
            <a:avLst/>
          </a:prstGeom>
          <a:noFill/>
          <a:ln/>
        </p:spPr>
        <p:txBody>
          <a:bodyPr wrap="square" lIns="0" tIns="0" rIns="0" bIns="0" rtlCol="0" anchor="ctr"/>
          <a:lstStyle/>
          <a:p>
            <a:pPr algn="l" indent="0" marL="0">
              <a:buNone/>
            </a:pPr>
            <a:r>
              <a:rPr lang="en-US" sz="900" dirty="0">
                <a:solidFill>
                  <a:srgbClr val="75777D"/>
                </a:solidFill>
                <a:latin typeface="Calibri" pitchFamily="34" charset="0"/>
                <a:ea typeface="Calibri" pitchFamily="34" charset="-122"/>
                <a:cs typeface="Calibri" pitchFamily="34" charset="-120"/>
              </a:rPr>
              <a:t>Prepared by Daylan Bester  ·  PwC  ·  May 2026  ·  Sprint 1 prototype, illustrative data</a:t>
            </a:r>
            <a:endParaRPr lang="en-US" sz="900" dirty="0"/>
          </a:p>
        </p:txBody>
      </p:sp>
      <p:sp>
        <p:nvSpPr>
          <p:cNvPr id="7" name="Text 4"/>
          <p:cNvSpPr/>
          <p:nvPr/>
        </p:nvSpPr>
        <p:spPr>
          <a:xfrm>
            <a:off x="10881360" y="6537960"/>
            <a:ext cx="731520" cy="228600"/>
          </a:xfrm>
          <a:prstGeom prst="rect">
            <a:avLst/>
          </a:prstGeom>
          <a:noFill/>
          <a:ln/>
        </p:spPr>
        <p:txBody>
          <a:bodyPr wrap="square" lIns="0" tIns="0" rIns="0" bIns="0" rtlCol="0" anchor="ctr"/>
          <a:lstStyle/>
          <a:p>
            <a:pPr algn="r" indent="0" marL="0">
              <a:buNone/>
            </a:pPr>
            <a:r>
              <a:rPr lang="en-US" sz="900" dirty="0">
                <a:solidFill>
                  <a:srgbClr val="75777D"/>
                </a:solidFill>
                <a:latin typeface="Calibri" pitchFamily="34" charset="0"/>
                <a:ea typeface="Calibri" pitchFamily="34" charset="-122"/>
                <a:cs typeface="Calibri" pitchFamily="34" charset="-120"/>
              </a:rPr>
              <a:t>1 / 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64240" cy="685800"/>
          </a:xfrm>
          <a:prstGeom prst="rect">
            <a:avLst/>
          </a:prstGeom>
          <a:noFill/>
          <a:ln/>
        </p:spPr>
        <p:txBody>
          <a:bodyPr wrap="square" lIns="0" tIns="0" rIns="0" bIns="0" rtlCol="0" anchor="ctr"/>
          <a:lstStyle/>
          <a:p>
            <a:pPr indent="0" marL="0">
              <a:buNone/>
            </a:pPr>
            <a:r>
              <a:rPr lang="en-US" sz="3400" b="1" spc="-100" kern="0" dirty="0">
                <a:solidFill>
                  <a:srgbClr val="091426"/>
                </a:solidFill>
                <a:latin typeface="Georgia" pitchFamily="34" charset="0"/>
                <a:ea typeface="Georgia" pitchFamily="34" charset="-122"/>
                <a:cs typeface="Georgia" pitchFamily="34" charset="-120"/>
              </a:rPr>
              <a:t>Nine Surfaces, One Wiki</a:t>
            </a:r>
            <a:endParaRPr lang="en-US" sz="3400" dirty="0"/>
          </a:p>
        </p:txBody>
      </p:sp>
      <p:sp>
        <p:nvSpPr>
          <p:cNvPr id="3" name="Text 1"/>
          <p:cNvSpPr/>
          <p:nvPr/>
        </p:nvSpPr>
        <p:spPr>
          <a:xfrm>
            <a:off x="548640" y="1188720"/>
            <a:ext cx="11064240" cy="457200"/>
          </a:xfrm>
          <a:prstGeom prst="rect">
            <a:avLst/>
          </a:prstGeom>
          <a:noFill/>
          <a:ln/>
        </p:spPr>
        <p:txBody>
          <a:bodyPr wrap="square" lIns="0" tIns="0" rIns="0" bIns="0" rtlCol="0" anchor="ctr"/>
          <a:lstStyle/>
          <a:p>
            <a:pPr indent="0" marL="0">
              <a:buNone/>
            </a:pPr>
            <a:r>
              <a:rPr lang="en-US" sz="1400" i="1" dirty="0">
                <a:solidFill>
                  <a:srgbClr val="515F74"/>
                </a:solidFill>
                <a:latin typeface="Georgia" pitchFamily="34" charset="0"/>
                <a:ea typeface="Georgia" pitchFamily="34" charset="-122"/>
                <a:cs typeface="Georgia" pitchFamily="34" charset="-120"/>
              </a:rPr>
              <a:t>Same backbone, nine different views. Each surface is a different lens on the same wiki: same data, different output format, different trigger pattern.</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457200"/>
                <a:gridCol w="2194560"/>
                <a:gridCol w="2377440"/>
                <a:gridCol w="4937760"/>
                <a:gridCol w="1097280"/>
              </a:tblGrid>
              <a:tr h="292608">
                <a:tc>
                  <a:txBody>
                    <a:bodyPr/>
                    <a:lstStyle/>
                    <a:p>
                      <a:pPr algn="ctr" indent="0" marL="0">
                        <a:buNone/>
                      </a:pPr>
                      <a:r>
                        <a:rPr lang="en-US" sz="950" b="1" spc="200" kern="0" dirty="0">
                          <a:solidFill>
                            <a:srgbClr val="515F74"/>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101600" marR="101600" marT="50800" marB="76200" anchor="ctr">
                    <a:lnL w="0" cap="flat" cmpd="sng" algn="ctr">
                      <a:noFill/>
                    </a:lnL>
                    <a:lnR w="0" cap="flat" cmpd="sng" algn="ctr">
                      <a:noFill/>
                    </a:lnR>
                    <a:lnT w="0" cap="flat" cmpd="sng" algn="ctr">
                      <a:noFill/>
                    </a:lnT>
                    <a:lnB w="19050" cap="flat" cmpd="sng" algn="ctr">
                      <a:solidFill>
                        <a:srgbClr val="091426"/>
                      </a:solidFill>
                      <a:prstDash val="solid"/>
                      <a:round/>
                      <a:headEnd type="none" w="med" len="med"/>
                      <a:tailEnd type="none" w="med" len="med"/>
                    </a:lnB>
                  </a:tcPr>
                </a:tc>
                <a:tc>
                  <a:txBody>
                    <a:bodyPr/>
                    <a:lstStyle/>
                    <a:p>
                      <a:pPr algn="l" indent="0" marL="0">
                        <a:buNone/>
                      </a:pPr>
                      <a:r>
                        <a:rPr lang="en-US" sz="950" b="1" spc="200" kern="0" dirty="0">
                          <a:solidFill>
                            <a:srgbClr val="515F74"/>
                          </a:solidFill>
                          <a:latin typeface="Calibri" pitchFamily="34" charset="0"/>
                          <a:ea typeface="Calibri" pitchFamily="34" charset="-122"/>
                          <a:cs typeface="Calibri" pitchFamily="34" charset="-120"/>
                        </a:rPr>
                        <a:t>SURFACE</a:t>
                      </a:r>
                      <a:endParaRPr lang="en-US" sz="950" dirty="0">
                        <a:latin typeface="Calibri" charset="0"/>
                        <a:ea typeface="Calibri" charset="0"/>
                        <a:cs typeface="Calibri" charset="0"/>
                      </a:endParaRPr>
                    </a:p>
                  </a:txBody>
                  <a:tcPr marL="101600" marR="101600" marT="50800" marB="76200" anchor="ctr">
                    <a:lnL w="0" cap="flat" cmpd="sng" algn="ctr">
                      <a:noFill/>
                    </a:lnL>
                    <a:lnR w="0" cap="flat" cmpd="sng" algn="ctr">
                      <a:noFill/>
                    </a:lnR>
                    <a:lnT w="0" cap="flat" cmpd="sng" algn="ctr">
                      <a:noFill/>
                    </a:lnT>
                    <a:lnB w="19050" cap="flat" cmpd="sng" algn="ctr">
                      <a:solidFill>
                        <a:srgbClr val="091426"/>
                      </a:solidFill>
                      <a:prstDash val="solid"/>
                      <a:round/>
                      <a:headEnd type="none" w="med" len="med"/>
                      <a:tailEnd type="none" w="med" len="med"/>
                    </a:lnB>
                  </a:tcPr>
                </a:tc>
                <a:tc>
                  <a:txBody>
                    <a:bodyPr/>
                    <a:lstStyle/>
                    <a:p>
                      <a:pPr algn="l" indent="0" marL="0">
                        <a:buNone/>
                      </a:pPr>
                      <a:r>
                        <a:rPr lang="en-US" sz="950" b="1" spc="200" kern="0" dirty="0">
                          <a:solidFill>
                            <a:srgbClr val="515F74"/>
                          </a:solidFill>
                          <a:latin typeface="Calibri" pitchFamily="34" charset="0"/>
                          <a:ea typeface="Calibri" pitchFamily="34" charset="-122"/>
                          <a:cs typeface="Calibri" pitchFamily="34" charset="-120"/>
                        </a:rPr>
                        <a:t>QUESTION ANSWERED</a:t>
                      </a:r>
                      <a:endParaRPr lang="en-US" sz="950" dirty="0">
                        <a:latin typeface="Calibri" charset="0"/>
                        <a:ea typeface="Calibri" charset="0"/>
                        <a:cs typeface="Calibri" charset="0"/>
                      </a:endParaRPr>
                    </a:p>
                  </a:txBody>
                  <a:tcPr marL="101600" marR="101600" marT="50800" marB="76200" anchor="ctr">
                    <a:lnL w="0" cap="flat" cmpd="sng" algn="ctr">
                      <a:noFill/>
                    </a:lnL>
                    <a:lnR w="0" cap="flat" cmpd="sng" algn="ctr">
                      <a:noFill/>
                    </a:lnR>
                    <a:lnT w="0" cap="flat" cmpd="sng" algn="ctr">
                      <a:noFill/>
                    </a:lnT>
                    <a:lnB w="19050" cap="flat" cmpd="sng" algn="ctr">
                      <a:solidFill>
                        <a:srgbClr val="091426"/>
                      </a:solidFill>
                      <a:prstDash val="solid"/>
                      <a:round/>
                      <a:headEnd type="none" w="med" len="med"/>
                      <a:tailEnd type="none" w="med" len="med"/>
                    </a:lnB>
                  </a:tcPr>
                </a:tc>
                <a:tc>
                  <a:txBody>
                    <a:bodyPr/>
                    <a:lstStyle/>
                    <a:p>
                      <a:pPr algn="l" indent="0" marL="0">
                        <a:buNone/>
                      </a:pPr>
                      <a:r>
                        <a:rPr lang="en-US" sz="950" b="1" spc="200" kern="0" dirty="0">
                          <a:solidFill>
                            <a:srgbClr val="515F74"/>
                          </a:solidFill>
                          <a:latin typeface="Calibri" pitchFamily="34" charset="0"/>
                          <a:ea typeface="Calibri" pitchFamily="34" charset="-122"/>
                          <a:cs typeface="Calibri" pitchFamily="34" charset="-120"/>
                        </a:rPr>
                        <a:t>DESCRIPTION</a:t>
                      </a:r>
                      <a:endParaRPr lang="en-US" sz="950" dirty="0">
                        <a:latin typeface="Calibri" charset="0"/>
                        <a:ea typeface="Calibri" charset="0"/>
                        <a:cs typeface="Calibri" charset="0"/>
                      </a:endParaRPr>
                    </a:p>
                  </a:txBody>
                  <a:tcPr marL="101600" marR="101600" marT="50800" marB="76200" anchor="ctr">
                    <a:lnL w="0" cap="flat" cmpd="sng" algn="ctr">
                      <a:noFill/>
                    </a:lnL>
                    <a:lnR w="0" cap="flat" cmpd="sng" algn="ctr">
                      <a:noFill/>
                    </a:lnR>
                    <a:lnT w="0" cap="flat" cmpd="sng" algn="ctr">
                      <a:noFill/>
                    </a:lnT>
                    <a:lnB w="19050" cap="flat" cmpd="sng" algn="ctr">
                      <a:solidFill>
                        <a:srgbClr val="091426"/>
                      </a:solidFill>
                      <a:prstDash val="solid"/>
                      <a:round/>
                      <a:headEnd type="none" w="med" len="med"/>
                      <a:tailEnd type="none" w="med" len="med"/>
                    </a:lnB>
                  </a:tcPr>
                </a:tc>
                <a:tc>
                  <a:txBody>
                    <a:bodyPr/>
                    <a:lstStyle/>
                    <a:p>
                      <a:pPr algn="l" indent="0" marL="0">
                        <a:buNone/>
                      </a:pPr>
                      <a:r>
                        <a:rPr lang="en-US" sz="950" b="1" spc="200" kern="0" dirty="0">
                          <a:solidFill>
                            <a:srgbClr val="515F74"/>
                          </a:solidFill>
                          <a:latin typeface="Calibri" pitchFamily="34" charset="0"/>
                          <a:ea typeface="Calibri" pitchFamily="34" charset="-122"/>
                          <a:cs typeface="Calibri" pitchFamily="34" charset="-120"/>
                        </a:rPr>
                        <a:t>SPRINT</a:t>
                      </a:r>
                      <a:endParaRPr lang="en-US" sz="950" dirty="0">
                        <a:latin typeface="Calibri" charset="0"/>
                        <a:ea typeface="Calibri" charset="0"/>
                        <a:cs typeface="Calibri" charset="0"/>
                      </a:endParaRPr>
                    </a:p>
                  </a:txBody>
                  <a:tcPr marL="101600" marR="101600" marT="50800" marB="76200" anchor="ctr">
                    <a:lnL w="0" cap="flat" cmpd="sng" algn="ctr">
                      <a:noFill/>
                    </a:lnL>
                    <a:lnR w="0" cap="flat" cmpd="sng" algn="ctr">
                      <a:noFill/>
                    </a:lnR>
                    <a:lnT w="0" cap="flat" cmpd="sng" algn="ctr">
                      <a:noFill/>
                    </a:lnT>
                    <a:lnB w="19050" cap="flat" cmpd="sng" algn="ctr">
                      <a:solidFill>
                        <a:srgbClr val="091426"/>
                      </a:solidFill>
                      <a:prstDash val="solid"/>
                      <a:round/>
                      <a:headEnd type="none" w="med" len="med"/>
                      <a:tailEnd type="none" w="med" len="med"/>
                    </a:lnB>
                  </a:tcPr>
                </a:tc>
              </a:tr>
              <a:tr h="411480">
                <a:tc>
                  <a:txBody>
                    <a:bodyPr/>
                    <a:lstStyle/>
                    <a:p>
                      <a:pPr algn="ctr" indent="0" marL="0">
                        <a:buNone/>
                      </a:pPr>
                      <a:r>
                        <a:rPr lang="en-US" sz="1100" dirty="0">
                          <a:solidFill>
                            <a:srgbClr val="515F74"/>
                          </a:solidFill>
                          <a:latin typeface="Georgia" pitchFamily="34" charset="0"/>
                          <a:ea typeface="Georgia" pitchFamily="34" charset="-122"/>
                          <a:cs typeface="Georgia" pitchFamily="34" charset="-120"/>
                        </a:rPr>
                        <a:t>01</a:t>
                      </a:r>
                      <a:endParaRPr lang="en-US" sz="1100" dirty="0">
                        <a:latin typeface="Georgia" charset="0"/>
                        <a:ea typeface="Georgia" charset="0"/>
                        <a:cs typeface="Georgia"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150" b="1" dirty="0">
                          <a:solidFill>
                            <a:srgbClr val="091426"/>
                          </a:solidFill>
                          <a:latin typeface="Georgia" pitchFamily="34" charset="0"/>
                          <a:ea typeface="Georgia" pitchFamily="34" charset="-122"/>
                          <a:cs typeface="Georgia" pitchFamily="34" charset="-120"/>
                        </a:rPr>
                        <a:t>Account Concierge</a:t>
                      </a:r>
                      <a:endParaRPr lang="en-US" sz="1150" dirty="0">
                        <a:latin typeface="Georgia" charset="0"/>
                        <a:ea typeface="Georgia" charset="0"/>
                        <a:cs typeface="Georgia"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100" i="1" dirty="0">
                          <a:solidFill>
                            <a:srgbClr val="515F74"/>
                          </a:solidFill>
                          <a:latin typeface="Calibri" pitchFamily="34" charset="0"/>
                          <a:ea typeface="Calibri" pitchFamily="34" charset="-122"/>
                          <a:cs typeface="Calibri" pitchFamily="34" charset="-120"/>
                        </a:rPr>
                        <a:t>What do we know?</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050" dirty="0">
                          <a:solidFill>
                            <a:srgbClr val="45474C"/>
                          </a:solidFill>
                          <a:latin typeface="Calibri" pitchFamily="34" charset="0"/>
                          <a:ea typeface="Calibri" pitchFamily="34" charset="-122"/>
                          <a:cs typeface="Calibri" pitchFamily="34" charset="-120"/>
                        </a:rPr>
                        <a:t>Search-and-synthesis Q&amp;A over the wiki with cited answers.</a:t>
                      </a:r>
                      <a:endParaRPr lang="en-US" sz="105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000" b="1" dirty="0">
                          <a:solidFill>
                            <a:srgbClr val="091426"/>
                          </a:solidFill>
                          <a:latin typeface="Calibri" pitchFamily="34" charset="0"/>
                          <a:ea typeface="Calibri" pitchFamily="34" charset="-122"/>
                          <a:cs typeface="Calibri" pitchFamily="34" charset="-120"/>
                        </a:rPr>
                        <a:t>Sprint 1 (shipped)</a:t>
                      </a:r>
                      <a:endParaRPr lang="en-US" sz="10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r>
              <a:tr h="411480">
                <a:tc>
                  <a:txBody>
                    <a:bodyPr/>
                    <a:lstStyle/>
                    <a:p>
                      <a:pPr algn="ctr" indent="0" marL="0">
                        <a:buNone/>
                      </a:pPr>
                      <a:r>
                        <a:rPr lang="en-US" sz="1100" dirty="0">
                          <a:solidFill>
                            <a:srgbClr val="515F74"/>
                          </a:solidFill>
                          <a:latin typeface="Georgia" pitchFamily="34" charset="0"/>
                          <a:ea typeface="Georgia" pitchFamily="34" charset="-122"/>
                          <a:cs typeface="Georgia" pitchFamily="34" charset="-120"/>
                        </a:rPr>
                        <a:t>02</a:t>
                      </a:r>
                      <a:endParaRPr lang="en-US" sz="1100" dirty="0">
                        <a:latin typeface="Georgia" charset="0"/>
                        <a:ea typeface="Georgia" charset="0"/>
                        <a:cs typeface="Georgia"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150" b="1" dirty="0">
                          <a:solidFill>
                            <a:srgbClr val="091426"/>
                          </a:solidFill>
                          <a:latin typeface="Georgia" pitchFamily="34" charset="0"/>
                          <a:ea typeface="Georgia" pitchFamily="34" charset="-122"/>
                          <a:cs typeface="Georgia" pitchFamily="34" charset="-120"/>
                        </a:rPr>
                        <a:t>Meeting Prep</a:t>
                      </a:r>
                      <a:endParaRPr lang="en-US" sz="1150" dirty="0">
                        <a:latin typeface="Georgia" charset="0"/>
                        <a:ea typeface="Georgia" charset="0"/>
                        <a:cs typeface="Georgia"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100" i="1" dirty="0">
                          <a:solidFill>
                            <a:srgbClr val="515F74"/>
                          </a:solidFill>
                          <a:latin typeface="Calibri" pitchFamily="34" charset="0"/>
                          <a:ea typeface="Calibri" pitchFamily="34" charset="-122"/>
                          <a:cs typeface="Calibri" pitchFamily="34" charset="-120"/>
                        </a:rPr>
                        <a:t>How do I show up prepared?</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050" dirty="0">
                          <a:solidFill>
                            <a:srgbClr val="45474C"/>
                          </a:solidFill>
                          <a:latin typeface="Calibri" pitchFamily="34" charset="0"/>
                          <a:ea typeface="Calibri" pitchFamily="34" charset="-122"/>
                          <a:cs typeface="Calibri" pitchFamily="34" charset="-120"/>
                        </a:rPr>
                        <a:t>One-page briefing before client meetings: context, prior interactions, talk track.</a:t>
                      </a:r>
                      <a:endParaRPr lang="en-US" sz="105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000" i="1" dirty="0">
                          <a:solidFill>
                            <a:srgbClr val="75777D"/>
                          </a:solidFill>
                          <a:latin typeface="Calibri" pitchFamily="34" charset="0"/>
                          <a:ea typeface="Calibri" pitchFamily="34" charset="-122"/>
                          <a:cs typeface="Calibri" pitchFamily="34" charset="-120"/>
                        </a:rPr>
                        <a:t>Sprint 2</a:t>
                      </a:r>
                      <a:endParaRPr lang="en-US" sz="10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r>
              <a:tr h="411480">
                <a:tc>
                  <a:txBody>
                    <a:bodyPr/>
                    <a:lstStyle/>
                    <a:p>
                      <a:pPr algn="ctr" indent="0" marL="0">
                        <a:buNone/>
                      </a:pPr>
                      <a:r>
                        <a:rPr lang="en-US" sz="1100" dirty="0">
                          <a:solidFill>
                            <a:srgbClr val="515F74"/>
                          </a:solidFill>
                          <a:latin typeface="Georgia" pitchFamily="34" charset="0"/>
                          <a:ea typeface="Georgia" pitchFamily="34" charset="-122"/>
                          <a:cs typeface="Georgia" pitchFamily="34" charset="-120"/>
                        </a:rPr>
                        <a:t>03</a:t>
                      </a:r>
                      <a:endParaRPr lang="en-US" sz="1100" dirty="0">
                        <a:latin typeface="Georgia" charset="0"/>
                        <a:ea typeface="Georgia" charset="0"/>
                        <a:cs typeface="Georgia"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150" b="1" dirty="0">
                          <a:solidFill>
                            <a:srgbClr val="091426"/>
                          </a:solidFill>
                          <a:latin typeface="Georgia" pitchFamily="34" charset="0"/>
                          <a:ea typeface="Georgia" pitchFamily="34" charset="-122"/>
                          <a:cs typeface="Georgia" pitchFamily="34" charset="-120"/>
                        </a:rPr>
                        <a:t>Relationship Intelligence</a:t>
                      </a:r>
                      <a:endParaRPr lang="en-US" sz="1150" dirty="0">
                        <a:latin typeface="Georgia" charset="0"/>
                        <a:ea typeface="Georgia" charset="0"/>
                        <a:cs typeface="Georgia"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100" i="1" dirty="0">
                          <a:solidFill>
                            <a:srgbClr val="515F74"/>
                          </a:solidFill>
                          <a:latin typeface="Calibri" pitchFamily="34" charset="0"/>
                          <a:ea typeface="Calibri" pitchFamily="34" charset="-122"/>
                          <a:cs typeface="Calibri" pitchFamily="34" charset="-120"/>
                        </a:rPr>
                        <a:t>Who knows whom?</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050" dirty="0">
                          <a:solidFill>
                            <a:srgbClr val="45474C"/>
                          </a:solidFill>
                          <a:latin typeface="Calibri" pitchFamily="34" charset="0"/>
                          <a:ea typeface="Calibri" pitchFamily="34" charset="-122"/>
                          <a:cs typeface="Calibri" pitchFamily="34" charset="-120"/>
                        </a:rPr>
                        <a:t>Relationship map: strength, interaction history, warm-intro paths.</a:t>
                      </a:r>
                      <a:endParaRPr lang="en-US" sz="105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000" i="1" dirty="0">
                          <a:solidFill>
                            <a:srgbClr val="75777D"/>
                          </a:solidFill>
                          <a:latin typeface="Calibri" pitchFamily="34" charset="0"/>
                          <a:ea typeface="Calibri" pitchFamily="34" charset="-122"/>
                          <a:cs typeface="Calibri" pitchFamily="34" charset="-120"/>
                        </a:rPr>
                        <a:t>Sprint 3</a:t>
                      </a:r>
                      <a:endParaRPr lang="en-US" sz="10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r>
              <a:tr h="411480">
                <a:tc>
                  <a:txBody>
                    <a:bodyPr/>
                    <a:lstStyle/>
                    <a:p>
                      <a:pPr algn="ctr" indent="0" marL="0">
                        <a:buNone/>
                      </a:pPr>
                      <a:r>
                        <a:rPr lang="en-US" sz="1100" dirty="0">
                          <a:solidFill>
                            <a:srgbClr val="515F74"/>
                          </a:solidFill>
                          <a:latin typeface="Georgia" pitchFamily="34" charset="0"/>
                          <a:ea typeface="Georgia" pitchFamily="34" charset="-122"/>
                          <a:cs typeface="Georgia" pitchFamily="34" charset="-120"/>
                        </a:rPr>
                        <a:t>04</a:t>
                      </a:r>
                      <a:endParaRPr lang="en-US" sz="1100" dirty="0">
                        <a:latin typeface="Georgia" charset="0"/>
                        <a:ea typeface="Georgia" charset="0"/>
                        <a:cs typeface="Georgia"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150" b="1" dirty="0">
                          <a:solidFill>
                            <a:srgbClr val="091426"/>
                          </a:solidFill>
                          <a:latin typeface="Georgia" pitchFamily="34" charset="0"/>
                          <a:ea typeface="Georgia" pitchFamily="34" charset="-122"/>
                          <a:cs typeface="Georgia" pitchFamily="34" charset="-120"/>
                        </a:rPr>
                        <a:t>Regulatory / Threat Trigger</a:t>
                      </a:r>
                      <a:endParaRPr lang="en-US" sz="1150" dirty="0">
                        <a:latin typeface="Georgia" charset="0"/>
                        <a:ea typeface="Georgia" charset="0"/>
                        <a:cs typeface="Georgia"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100" i="1" dirty="0">
                          <a:solidFill>
                            <a:srgbClr val="515F74"/>
                          </a:solidFill>
                          <a:latin typeface="Calibri" pitchFamily="34" charset="0"/>
                          <a:ea typeface="Calibri" pitchFamily="34" charset="-122"/>
                          <a:cs typeface="Calibri" pitchFamily="34" charset="-120"/>
                        </a:rPr>
                        <a:t>What should we proactively bring?</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050" dirty="0">
                          <a:solidFill>
                            <a:srgbClr val="45474C"/>
                          </a:solidFill>
                          <a:latin typeface="Calibri" pitchFamily="34" charset="0"/>
                          <a:ea typeface="Calibri" pitchFamily="34" charset="-122"/>
                          <a:cs typeface="Calibri" pitchFamily="34" charset="-120"/>
                        </a:rPr>
                        <a:t>External regulatory and threat signals (CISA, HHS/OCR, SEC, H-ISAC) turned into client-specific outreach.</a:t>
                      </a:r>
                      <a:endParaRPr lang="en-US" sz="105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000" i="1" dirty="0">
                          <a:solidFill>
                            <a:srgbClr val="75777D"/>
                          </a:solidFill>
                          <a:latin typeface="Calibri" pitchFamily="34" charset="0"/>
                          <a:ea typeface="Calibri" pitchFamily="34" charset="-122"/>
                          <a:cs typeface="Calibri" pitchFamily="34" charset="-120"/>
                        </a:rPr>
                        <a:t>Sprint 3</a:t>
                      </a:r>
                      <a:endParaRPr lang="en-US" sz="10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r>
              <a:tr h="411480">
                <a:tc>
                  <a:txBody>
                    <a:bodyPr/>
                    <a:lstStyle/>
                    <a:p>
                      <a:pPr algn="ctr" indent="0" marL="0">
                        <a:buNone/>
                      </a:pPr>
                      <a:r>
                        <a:rPr lang="en-US" sz="1100" dirty="0">
                          <a:solidFill>
                            <a:srgbClr val="515F74"/>
                          </a:solidFill>
                          <a:latin typeface="Georgia" pitchFamily="34" charset="0"/>
                          <a:ea typeface="Georgia" pitchFamily="34" charset="-122"/>
                          <a:cs typeface="Georgia" pitchFamily="34" charset="-120"/>
                        </a:rPr>
                        <a:t>05</a:t>
                      </a:r>
                      <a:endParaRPr lang="en-US" sz="1100" dirty="0">
                        <a:latin typeface="Georgia" charset="0"/>
                        <a:ea typeface="Georgia" charset="0"/>
                        <a:cs typeface="Georgia"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150" b="1" dirty="0">
                          <a:solidFill>
                            <a:srgbClr val="091426"/>
                          </a:solidFill>
                          <a:latin typeface="Georgia" pitchFamily="34" charset="0"/>
                          <a:ea typeface="Georgia" pitchFamily="34" charset="-122"/>
                          <a:cs typeface="Georgia" pitchFamily="34" charset="-120"/>
                        </a:rPr>
                        <a:t>Pursuit Reuse</a:t>
                      </a:r>
                      <a:endParaRPr lang="en-US" sz="1150" dirty="0">
                        <a:latin typeface="Georgia" charset="0"/>
                        <a:ea typeface="Georgia" charset="0"/>
                        <a:cs typeface="Georgia"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100" i="1" dirty="0">
                          <a:solidFill>
                            <a:srgbClr val="515F74"/>
                          </a:solidFill>
                          <a:latin typeface="Calibri" pitchFamily="34" charset="0"/>
                          <a:ea typeface="Calibri" pitchFamily="34" charset="-122"/>
                          <a:cs typeface="Calibri" pitchFamily="34" charset="-120"/>
                        </a:rPr>
                        <a:t>What can we reuse?</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050" dirty="0">
                          <a:solidFill>
                            <a:srgbClr val="45474C"/>
                          </a:solidFill>
                          <a:latin typeface="Calibri" pitchFamily="34" charset="0"/>
                          <a:ea typeface="Calibri" pitchFamily="34" charset="-122"/>
                          <a:cs typeface="Calibri" pitchFamily="34" charset="-120"/>
                        </a:rPr>
                        <a:t>Finds reusable proposal language, SOWs, credentials, pricing assumptions, similar wins.</a:t>
                      </a:r>
                      <a:endParaRPr lang="en-US" sz="105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000" i="1" dirty="0">
                          <a:solidFill>
                            <a:srgbClr val="75777D"/>
                          </a:solidFill>
                          <a:latin typeface="Calibri" pitchFamily="34" charset="0"/>
                          <a:ea typeface="Calibri" pitchFamily="34" charset="-122"/>
                          <a:cs typeface="Calibri" pitchFamily="34" charset="-120"/>
                        </a:rPr>
                        <a:t>Sprint 4</a:t>
                      </a:r>
                      <a:endParaRPr lang="en-US" sz="10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r>
              <a:tr h="411480">
                <a:tc>
                  <a:txBody>
                    <a:bodyPr/>
                    <a:lstStyle/>
                    <a:p>
                      <a:pPr algn="ctr" indent="0" marL="0">
                        <a:buNone/>
                      </a:pPr>
                      <a:r>
                        <a:rPr lang="en-US" sz="1100" dirty="0">
                          <a:solidFill>
                            <a:srgbClr val="515F74"/>
                          </a:solidFill>
                          <a:latin typeface="Georgia" pitchFamily="34" charset="0"/>
                          <a:ea typeface="Georgia" pitchFamily="34" charset="-122"/>
                          <a:cs typeface="Georgia" pitchFamily="34" charset="-120"/>
                        </a:rPr>
                        <a:t>06</a:t>
                      </a:r>
                      <a:endParaRPr lang="en-US" sz="1100" dirty="0">
                        <a:latin typeface="Georgia" charset="0"/>
                        <a:ea typeface="Georgia" charset="0"/>
                        <a:cs typeface="Georgia"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150" b="1" dirty="0">
                          <a:solidFill>
                            <a:srgbClr val="091426"/>
                          </a:solidFill>
                          <a:latin typeface="Georgia" pitchFamily="34" charset="0"/>
                          <a:ea typeface="Georgia" pitchFamily="34" charset="-122"/>
                          <a:cs typeface="Georgia" pitchFamily="34" charset="-120"/>
                        </a:rPr>
                        <a:t>Account Rhythm</a:t>
                      </a:r>
                      <a:endParaRPr lang="en-US" sz="1150" dirty="0">
                        <a:latin typeface="Georgia" charset="0"/>
                        <a:ea typeface="Georgia" charset="0"/>
                        <a:cs typeface="Georgia"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100" i="1" dirty="0">
                          <a:solidFill>
                            <a:srgbClr val="515F74"/>
                          </a:solidFill>
                          <a:latin typeface="Calibri" pitchFamily="34" charset="0"/>
                          <a:ea typeface="Calibri" pitchFamily="34" charset="-122"/>
                          <a:cs typeface="Calibri" pitchFamily="34" charset="-120"/>
                        </a:rPr>
                        <a:t>What needs action?</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050" dirty="0">
                          <a:solidFill>
                            <a:srgbClr val="45474C"/>
                          </a:solidFill>
                          <a:latin typeface="Calibri" pitchFamily="34" charset="0"/>
                          <a:ea typeface="Calibri" pitchFamily="34" charset="-122"/>
                          <a:cs typeface="Calibri" pitchFamily="34" charset="-120"/>
                        </a:rPr>
                        <a:t>Tracks follow-ups, stale opportunities, Salesforce hygiene, action owners, weekly summaries.</a:t>
                      </a:r>
                      <a:endParaRPr lang="en-US" sz="105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000" i="1" dirty="0">
                          <a:solidFill>
                            <a:srgbClr val="75777D"/>
                          </a:solidFill>
                          <a:latin typeface="Calibri" pitchFamily="34" charset="0"/>
                          <a:ea typeface="Calibri" pitchFamily="34" charset="-122"/>
                          <a:cs typeface="Calibri" pitchFamily="34" charset="-120"/>
                        </a:rPr>
                        <a:t>Sprint 4</a:t>
                      </a:r>
                      <a:endParaRPr lang="en-US" sz="10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r>
              <a:tr h="411480">
                <a:tc>
                  <a:txBody>
                    <a:bodyPr/>
                    <a:lstStyle/>
                    <a:p>
                      <a:pPr algn="ctr" indent="0" marL="0">
                        <a:buNone/>
                      </a:pPr>
                      <a:r>
                        <a:rPr lang="en-US" sz="1100" dirty="0">
                          <a:solidFill>
                            <a:srgbClr val="515F74"/>
                          </a:solidFill>
                          <a:latin typeface="Georgia" pitchFamily="34" charset="0"/>
                          <a:ea typeface="Georgia" pitchFamily="34" charset="-122"/>
                          <a:cs typeface="Georgia" pitchFamily="34" charset="-120"/>
                        </a:rPr>
                        <a:t>07</a:t>
                      </a:r>
                      <a:endParaRPr lang="en-US" sz="1100" dirty="0">
                        <a:latin typeface="Georgia" charset="0"/>
                        <a:ea typeface="Georgia" charset="0"/>
                        <a:cs typeface="Georgia"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150" b="1" dirty="0">
                          <a:solidFill>
                            <a:srgbClr val="091426"/>
                          </a:solidFill>
                          <a:latin typeface="Georgia" pitchFamily="34" charset="0"/>
                          <a:ea typeface="Georgia" pitchFamily="34" charset="-122"/>
                          <a:cs typeface="Georgia" pitchFamily="34" charset="-120"/>
                        </a:rPr>
                        <a:t>White-Space Agent</a:t>
                      </a:r>
                      <a:endParaRPr lang="en-US" sz="1150" dirty="0">
                        <a:latin typeface="Georgia" charset="0"/>
                        <a:ea typeface="Georgia" charset="0"/>
                        <a:cs typeface="Georgia"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100" i="1" dirty="0">
                          <a:solidFill>
                            <a:srgbClr val="515F74"/>
                          </a:solidFill>
                          <a:latin typeface="Calibri" pitchFamily="34" charset="0"/>
                          <a:ea typeface="Calibri" pitchFamily="34" charset="-122"/>
                          <a:cs typeface="Calibri" pitchFamily="34" charset="-120"/>
                        </a:rPr>
                        <a:t>Where are we underpenetrated?</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050" dirty="0">
                          <a:solidFill>
                            <a:srgbClr val="45474C"/>
                          </a:solidFill>
                          <a:latin typeface="Calibri" pitchFamily="34" charset="0"/>
                          <a:ea typeface="Calibri" pitchFamily="34" charset="-122"/>
                          <a:cs typeface="Calibri" pitchFamily="34" charset="-120"/>
                        </a:rPr>
                        <a:t>Maps CVS business units against PwC practice coverage, prior wins, and relationships to flag gaps.</a:t>
                      </a:r>
                      <a:endParaRPr lang="en-US" sz="105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000" i="1" dirty="0">
                          <a:solidFill>
                            <a:srgbClr val="75777D"/>
                          </a:solidFill>
                          <a:latin typeface="Calibri" pitchFamily="34" charset="0"/>
                          <a:ea typeface="Calibri" pitchFamily="34" charset="-122"/>
                          <a:cs typeface="Calibri" pitchFamily="34" charset="-120"/>
                        </a:rPr>
                        <a:t>Sprint 5</a:t>
                      </a:r>
                      <a:endParaRPr lang="en-US" sz="10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r>
              <a:tr h="411480">
                <a:tc>
                  <a:txBody>
                    <a:bodyPr/>
                    <a:lstStyle/>
                    <a:p>
                      <a:pPr algn="ctr" indent="0" marL="0">
                        <a:buNone/>
                      </a:pPr>
                      <a:r>
                        <a:rPr lang="en-US" sz="1100" dirty="0">
                          <a:solidFill>
                            <a:srgbClr val="515F74"/>
                          </a:solidFill>
                          <a:latin typeface="Georgia" pitchFamily="34" charset="0"/>
                          <a:ea typeface="Georgia" pitchFamily="34" charset="-122"/>
                          <a:cs typeface="Georgia" pitchFamily="34" charset="-120"/>
                        </a:rPr>
                        <a:t>08</a:t>
                      </a:r>
                      <a:endParaRPr lang="en-US" sz="1100" dirty="0">
                        <a:latin typeface="Georgia" charset="0"/>
                        <a:ea typeface="Georgia" charset="0"/>
                        <a:cs typeface="Georgia"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150" b="1" dirty="0">
                          <a:solidFill>
                            <a:srgbClr val="091426"/>
                          </a:solidFill>
                          <a:latin typeface="Georgia" pitchFamily="34" charset="0"/>
                          <a:ea typeface="Georgia" pitchFamily="34" charset="-122"/>
                          <a:cs typeface="Georgia" pitchFamily="34" charset="-120"/>
                        </a:rPr>
                        <a:t>BU Opportunity Radar</a:t>
                      </a:r>
                      <a:endParaRPr lang="en-US" sz="1150" dirty="0">
                        <a:latin typeface="Georgia" charset="0"/>
                        <a:ea typeface="Georgia" charset="0"/>
                        <a:cs typeface="Georgia"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100" i="1" dirty="0">
                          <a:solidFill>
                            <a:srgbClr val="515F74"/>
                          </a:solidFill>
                          <a:latin typeface="Calibri" pitchFamily="34" charset="0"/>
                          <a:ea typeface="Calibri" pitchFamily="34" charset="-122"/>
                          <a:cs typeface="Calibri" pitchFamily="34" charset="-120"/>
                        </a:rPr>
                        <a:t>What should we pursue by BU?</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050" dirty="0">
                          <a:solidFill>
                            <a:srgbClr val="45474C"/>
                          </a:solidFill>
                          <a:latin typeface="Calibri" pitchFamily="34" charset="0"/>
                          <a:ea typeface="Calibri" pitchFamily="34" charset="-122"/>
                          <a:cs typeface="Calibri" pitchFamily="34" charset="-120"/>
                        </a:rPr>
                        <a:t>Suggests opportunities by business unit from internal notes plus public signals.</a:t>
                      </a:r>
                      <a:endParaRPr lang="en-US" sz="105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000" i="1" dirty="0">
                          <a:solidFill>
                            <a:srgbClr val="75777D"/>
                          </a:solidFill>
                          <a:latin typeface="Calibri" pitchFamily="34" charset="0"/>
                          <a:ea typeface="Calibri" pitchFamily="34" charset="-122"/>
                          <a:cs typeface="Calibri" pitchFamily="34" charset="-120"/>
                        </a:rPr>
                        <a:t>Sprint 5</a:t>
                      </a:r>
                      <a:endParaRPr lang="en-US" sz="10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r>
              <a:tr h="411480">
                <a:tc>
                  <a:txBody>
                    <a:bodyPr/>
                    <a:lstStyle/>
                    <a:p>
                      <a:pPr algn="ctr" indent="0" marL="0">
                        <a:buNone/>
                      </a:pPr>
                      <a:r>
                        <a:rPr lang="en-US" sz="1100" dirty="0">
                          <a:solidFill>
                            <a:srgbClr val="515F74"/>
                          </a:solidFill>
                          <a:latin typeface="Georgia" pitchFamily="34" charset="0"/>
                          <a:ea typeface="Georgia" pitchFamily="34" charset="-122"/>
                          <a:cs typeface="Georgia" pitchFamily="34" charset="-120"/>
                        </a:rPr>
                        <a:t>09</a:t>
                      </a:r>
                      <a:endParaRPr lang="en-US" sz="1100" dirty="0">
                        <a:latin typeface="Georgia" charset="0"/>
                        <a:ea typeface="Georgia" charset="0"/>
                        <a:cs typeface="Georgia"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150" b="1" dirty="0">
                          <a:solidFill>
                            <a:srgbClr val="091426"/>
                          </a:solidFill>
                          <a:latin typeface="Georgia" pitchFamily="34" charset="0"/>
                          <a:ea typeface="Georgia" pitchFamily="34" charset="-122"/>
                          <a:cs typeface="Georgia" pitchFamily="34" charset="-120"/>
                        </a:rPr>
                        <a:t>Issue-to-Solution</a:t>
                      </a:r>
                      <a:endParaRPr lang="en-US" sz="1150" dirty="0">
                        <a:latin typeface="Georgia" charset="0"/>
                        <a:ea typeface="Georgia" charset="0"/>
                        <a:cs typeface="Georgia"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100" i="1" dirty="0">
                          <a:solidFill>
                            <a:srgbClr val="515F74"/>
                          </a:solidFill>
                          <a:latin typeface="Calibri" pitchFamily="34" charset="0"/>
                          <a:ea typeface="Calibri" pitchFamily="34" charset="-122"/>
                          <a:cs typeface="Calibri" pitchFamily="34" charset="-120"/>
                        </a:rPr>
                        <a:t>How do we turn pain into a PwC offer?</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050" dirty="0">
                          <a:solidFill>
                            <a:srgbClr val="45474C"/>
                          </a:solidFill>
                          <a:latin typeface="Calibri" pitchFamily="34" charset="0"/>
                          <a:ea typeface="Calibri" pitchFamily="34" charset="-122"/>
                          <a:cs typeface="Calibri" pitchFamily="34" charset="-120"/>
                        </a:rPr>
                        <a:t>Converts client pain points into matched offerings, SMEs, credentials, and next-step actions.</a:t>
                      </a:r>
                      <a:endParaRPr lang="en-US" sz="105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000" i="1" dirty="0">
                          <a:solidFill>
                            <a:srgbClr val="75777D"/>
                          </a:solidFill>
                          <a:latin typeface="Calibri" pitchFamily="34" charset="0"/>
                          <a:ea typeface="Calibri" pitchFamily="34" charset="-122"/>
                          <a:cs typeface="Calibri" pitchFamily="34" charset="-120"/>
                        </a:rPr>
                        <a:t>Sprint 6</a:t>
                      </a:r>
                      <a:endParaRPr lang="en-US" sz="10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r>
              <a:tr h="411480">
                <a:tc>
                  <a:txBody>
                    <a:bodyPr/>
                    <a:lstStyle/>
                    <a:p>
                      <a:pPr algn="ctr" indent="0" marL="0">
                        <a:buNone/>
                      </a:pPr>
                      <a:r>
                        <a:rPr lang="en-US" sz="1100" dirty="0">
                          <a:solidFill>
                            <a:srgbClr val="515F74"/>
                          </a:solidFill>
                          <a:latin typeface="Georgia" pitchFamily="34" charset="0"/>
                          <a:ea typeface="Georgia" pitchFamily="34" charset="-122"/>
                          <a:cs typeface="Georgia" pitchFamily="34" charset="-120"/>
                        </a:rPr>
                        <a:t>—</a:t>
                      </a:r>
                      <a:endParaRPr lang="en-US" sz="1100" dirty="0">
                        <a:latin typeface="Georgia" charset="0"/>
                        <a:ea typeface="Georgia" charset="0"/>
                        <a:cs typeface="Georgia"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150" b="1" dirty="0">
                          <a:solidFill>
                            <a:srgbClr val="091426"/>
                          </a:solidFill>
                          <a:latin typeface="Georgia" pitchFamily="34" charset="0"/>
                          <a:ea typeface="Georgia" pitchFamily="34" charset="-122"/>
                          <a:cs typeface="Georgia" pitchFamily="34" charset="-120"/>
                        </a:rPr>
                        <a:t>Editorial Briefing</a:t>
                      </a:r>
                      <a:endParaRPr lang="en-US" sz="1150" dirty="0">
                        <a:latin typeface="Georgia" charset="0"/>
                        <a:ea typeface="Georgia" charset="0"/>
                        <a:cs typeface="Georgia"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100" i="1" dirty="0">
                          <a:solidFill>
                            <a:srgbClr val="515F74"/>
                          </a:solidFill>
                          <a:latin typeface="Calibri" pitchFamily="34" charset="0"/>
                          <a:ea typeface="Calibri" pitchFamily="34" charset="-122"/>
                          <a:cs typeface="Calibri" pitchFamily="34" charset="-120"/>
                        </a:rPr>
                        <a:t>Smartest read on the account right now</a:t>
                      </a:r>
                      <a:endParaRPr lang="en-US" sz="11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050" dirty="0">
                          <a:solidFill>
                            <a:srgbClr val="45474C"/>
                          </a:solidFill>
                          <a:latin typeface="Calibri" pitchFamily="34" charset="0"/>
                          <a:ea typeface="Calibri" pitchFamily="34" charset="-122"/>
                          <a:cs typeface="Calibri" pitchFamily="34" charset="-120"/>
                        </a:rPr>
                        <a:t>Long-form synthesized dossier — the artifact a partner reads before a high-stakes meeting.</a:t>
                      </a:r>
                      <a:endParaRPr lang="en-US" sz="105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c>
                  <a:txBody>
                    <a:bodyPr/>
                    <a:lstStyle/>
                    <a:p>
                      <a:pPr algn="l" indent="0" marL="0">
                        <a:buNone/>
                      </a:pPr>
                      <a:r>
                        <a:rPr lang="en-US" sz="1000" b="1" dirty="0">
                          <a:solidFill>
                            <a:srgbClr val="091426"/>
                          </a:solidFill>
                          <a:latin typeface="Calibri" pitchFamily="34" charset="0"/>
                          <a:ea typeface="Calibri" pitchFamily="34" charset="-122"/>
                          <a:cs typeface="Calibri" pitchFamily="34" charset="-120"/>
                        </a:rPr>
                        <a:t>Sprint 1 (shipped)</a:t>
                      </a:r>
                      <a:endParaRPr lang="en-US" sz="10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E4E2E3"/>
                      </a:solidFill>
                      <a:prstDash val="solid"/>
                      <a:round/>
                      <a:headEnd type="none" w="med" len="med"/>
                      <a:tailEnd type="none" w="med" len="med"/>
                    </a:lnT>
                    <a:lnB w="6350" cap="flat" cmpd="sng" algn="ctr">
                      <a:solidFill>
                        <a:srgbClr val="E4E2E3"/>
                      </a:solidFill>
                      <a:prstDash val="solid"/>
                      <a:round/>
                      <a:headEnd type="none" w="med" len="med"/>
                      <a:tailEnd type="none" w="med" len="med"/>
                    </a:lnB>
                  </a:tcPr>
                </a:tc>
              </a:tr>
            </a:tbl>
          </a:graphicData>
        </a:graphic>
      </p:graphicFrame>
      <p:sp>
        <p:nvSpPr>
          <p:cNvPr id="5" name="Text 2"/>
          <p:cNvSpPr/>
          <p:nvPr/>
        </p:nvSpPr>
        <p:spPr>
          <a:xfrm>
            <a:off x="548640" y="6537960"/>
            <a:ext cx="10332720" cy="228600"/>
          </a:xfrm>
          <a:prstGeom prst="rect">
            <a:avLst/>
          </a:prstGeom>
          <a:noFill/>
          <a:ln/>
        </p:spPr>
        <p:txBody>
          <a:bodyPr wrap="square" lIns="0" tIns="0" rIns="0" bIns="0" rtlCol="0" anchor="ctr"/>
          <a:lstStyle/>
          <a:p>
            <a:pPr algn="l" indent="0" marL="0">
              <a:buNone/>
            </a:pPr>
            <a:r>
              <a:rPr lang="en-US" sz="900" dirty="0">
                <a:solidFill>
                  <a:srgbClr val="75777D"/>
                </a:solidFill>
                <a:latin typeface="Calibri" pitchFamily="34" charset="0"/>
                <a:ea typeface="Calibri" pitchFamily="34" charset="-122"/>
                <a:cs typeface="Calibri" pitchFamily="34" charset="-120"/>
              </a:rPr>
              <a:t>Prepared by Daylan Bester  ·  PwC  ·  May 2026  ·  Sprint 1 prototype, illustrative data</a:t>
            </a:r>
            <a:endParaRPr lang="en-US" sz="900" dirty="0"/>
          </a:p>
        </p:txBody>
      </p:sp>
      <p:sp>
        <p:nvSpPr>
          <p:cNvPr id="6" name="Text 3"/>
          <p:cNvSpPr/>
          <p:nvPr/>
        </p:nvSpPr>
        <p:spPr>
          <a:xfrm>
            <a:off x="10881360" y="6537960"/>
            <a:ext cx="731520" cy="228600"/>
          </a:xfrm>
          <a:prstGeom prst="rect">
            <a:avLst/>
          </a:prstGeom>
          <a:noFill/>
          <a:ln/>
        </p:spPr>
        <p:txBody>
          <a:bodyPr wrap="square" lIns="0" tIns="0" rIns="0" bIns="0" rtlCol="0" anchor="ctr"/>
          <a:lstStyle/>
          <a:p>
            <a:pPr algn="r" indent="0" marL="0">
              <a:buNone/>
            </a:pPr>
            <a:r>
              <a:rPr lang="en-US" sz="900" dirty="0">
                <a:solidFill>
                  <a:srgbClr val="75777D"/>
                </a:solidFill>
                <a:latin typeface="Calibri" pitchFamily="34" charset="0"/>
                <a:ea typeface="Calibri" pitchFamily="34" charset="-122"/>
                <a:cs typeface="Calibri" pitchFamily="34" charset="-120"/>
              </a:rPr>
              <a:t>2 / 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PwC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CVS Account Intelligence</dc:title>
  <dc:subject>PptxGenJS Presentation</dc:subject>
  <dc:creator>Daylan Bester</dc:creator>
  <cp:lastModifiedBy>Daylan Bester</cp:lastModifiedBy>
  <cp:revision>1</cp:revision>
  <dcterms:created xsi:type="dcterms:W3CDTF">2026-05-27T22:01:58Z</dcterms:created>
  <dcterms:modified xsi:type="dcterms:W3CDTF">2026-05-27T22:01:58Z</dcterms:modified>
</cp:coreProperties>
</file>